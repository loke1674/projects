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BD99B-505E-4BF0-90C8-44FAA57050CA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8C1D0-E51F-4204-B8A6-5520B1906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5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8C1D0-E51F-4204-B8A6-5520B190617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991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46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2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13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74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6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00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7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86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0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09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20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7B4210-7BC1-4723-A347-143F69A9364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4F3EE4-27DD-4D3F-886E-F355FCA9D1F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33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walmart?page=1&amp;sort=curated&amp;topic_group=_topic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4497-AD23-1F70-BF83-F80C61B60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+mn-lt"/>
              </a:rPr>
              <a:t>WALMART RETAIL DASHBOARD AND ANALYSIS</a:t>
            </a:r>
            <a:endParaRPr lang="en-IN" sz="60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6D1BA-9A6A-9DDA-9BDD-1324F0D76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A.LOKESH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9C75E-73C5-7901-2F2F-CCB77FA92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203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6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9C7A-3DE7-88F5-E9DB-34C1D253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INTRODUCTION</a:t>
            </a:r>
            <a:endParaRPr lang="en-IN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4B7C4E-E9D3-622D-B5C6-01DEEE6F1E5B}"/>
              </a:ext>
            </a:extLst>
          </p:cNvPr>
          <p:cNvSpPr/>
          <p:nvPr/>
        </p:nvSpPr>
        <p:spPr>
          <a:xfrm>
            <a:off x="1097280" y="1946788"/>
            <a:ext cx="10058400" cy="1936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This dashboard provides a comprehensive view of Walmart's sales performance across key business areas, helping drive data-driven decision-making and strategic insights. The dashboard is organized into four main pages</a:t>
            </a:r>
            <a:endParaRPr lang="en-IN" sz="2800" dirty="0">
              <a:solidFill>
                <a:srgbClr val="CC006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D558DC-A6F6-225F-8262-969B1F456859}"/>
              </a:ext>
            </a:extLst>
          </p:cNvPr>
          <p:cNvGrpSpPr/>
          <p:nvPr/>
        </p:nvGrpSpPr>
        <p:grpSpPr>
          <a:xfrm>
            <a:off x="1046152" y="4586748"/>
            <a:ext cx="10109528" cy="678426"/>
            <a:chOff x="1046152" y="4213122"/>
            <a:chExt cx="10109528" cy="6784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A269A9-7DB0-A257-2047-D4575DD6C898}"/>
                </a:ext>
              </a:extLst>
            </p:cNvPr>
            <p:cNvSpPr/>
            <p:nvPr/>
          </p:nvSpPr>
          <p:spPr>
            <a:xfrm>
              <a:off x="1046152" y="4213122"/>
              <a:ext cx="1872062" cy="6784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Executive </a:t>
              </a:r>
              <a:r>
                <a:rPr lang="en-US" dirty="0" err="1"/>
                <a:t>DashBoard</a:t>
              </a:r>
              <a:endParaRPr lang="en-IN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A1E74-D9BC-5354-A71B-F29FDA233FF1}"/>
                </a:ext>
              </a:extLst>
            </p:cNvPr>
            <p:cNvSpPr/>
            <p:nvPr/>
          </p:nvSpPr>
          <p:spPr>
            <a:xfrm>
              <a:off x="3791974" y="4213122"/>
              <a:ext cx="1872062" cy="6784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Product Analysis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C176D7-F778-7745-C0A3-886DEC9274A6}"/>
                </a:ext>
              </a:extLst>
            </p:cNvPr>
            <p:cNvSpPr/>
            <p:nvPr/>
          </p:nvSpPr>
          <p:spPr>
            <a:xfrm>
              <a:off x="6537796" y="4213122"/>
              <a:ext cx="1872062" cy="6784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Geographic  Analysis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C84450-DE69-A628-D3E4-B2BC3F659A18}"/>
                </a:ext>
              </a:extLst>
            </p:cNvPr>
            <p:cNvSpPr/>
            <p:nvPr/>
          </p:nvSpPr>
          <p:spPr>
            <a:xfrm>
              <a:off x="9283618" y="4213122"/>
              <a:ext cx="1872062" cy="6784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Customer Analysis</a:t>
              </a:r>
              <a:endParaRPr lang="en-IN" dirty="0"/>
            </a:p>
          </p:txBody>
        </p:sp>
      </p:grp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F89E958-9EAD-CE67-1E7E-D5A33A182555}"/>
              </a:ext>
            </a:extLst>
          </p:cNvPr>
          <p:cNvSpPr/>
          <p:nvPr/>
        </p:nvSpPr>
        <p:spPr>
          <a:xfrm>
            <a:off x="1848464" y="3883741"/>
            <a:ext cx="235975" cy="6784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F4835A3-C26A-4B92-9583-4A60A0CC8FEC}"/>
              </a:ext>
            </a:extLst>
          </p:cNvPr>
          <p:cNvSpPr/>
          <p:nvPr/>
        </p:nvSpPr>
        <p:spPr>
          <a:xfrm>
            <a:off x="10101661" y="3883741"/>
            <a:ext cx="235975" cy="6784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298C893-4755-9887-F39E-C9A4D25558C2}"/>
              </a:ext>
            </a:extLst>
          </p:cNvPr>
          <p:cNvSpPr/>
          <p:nvPr/>
        </p:nvSpPr>
        <p:spPr>
          <a:xfrm>
            <a:off x="7346010" y="3896031"/>
            <a:ext cx="235975" cy="6784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E5B24410-F9AD-58A6-96DE-9E55CBDC0EA7}"/>
              </a:ext>
            </a:extLst>
          </p:cNvPr>
          <p:cNvSpPr/>
          <p:nvPr/>
        </p:nvSpPr>
        <p:spPr>
          <a:xfrm>
            <a:off x="4610017" y="3883741"/>
            <a:ext cx="235975" cy="6784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392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DEB5-66CF-DB29-6A03-2C466663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EFD802-5201-8515-FABA-B21EAF879891}"/>
              </a:ext>
            </a:extLst>
          </p:cNvPr>
          <p:cNvSpPr/>
          <p:nvPr/>
        </p:nvSpPr>
        <p:spPr>
          <a:xfrm>
            <a:off x="566339" y="1956616"/>
            <a:ext cx="2442332" cy="3972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CUSTOMER DEMOGRAPHICS</a:t>
            </a:r>
          </a:p>
          <a:p>
            <a:pPr algn="ctr"/>
            <a:endParaRPr lang="en-IN" sz="2000" dirty="0"/>
          </a:p>
          <a:p>
            <a:r>
              <a:rPr lang="en-US" sz="1600" dirty="0"/>
              <a:t>1 .Customer Name</a:t>
            </a:r>
          </a:p>
          <a:p>
            <a:r>
              <a:rPr lang="en-US" sz="1600" dirty="0"/>
              <a:t>2. Customer Age</a:t>
            </a:r>
          </a:p>
          <a:p>
            <a:r>
              <a:rPr lang="en-US" sz="1600" dirty="0"/>
              <a:t>3. Customer Segment</a:t>
            </a:r>
          </a:p>
          <a:p>
            <a:r>
              <a:rPr lang="en-US" sz="1600" dirty="0"/>
              <a:t>4. City</a:t>
            </a:r>
          </a:p>
          <a:p>
            <a:r>
              <a:rPr lang="en-US" sz="1600" dirty="0"/>
              <a:t>5. State</a:t>
            </a:r>
          </a:p>
          <a:p>
            <a:r>
              <a:rPr lang="en-US" sz="1600" dirty="0"/>
              <a:t>6. Zip Code</a:t>
            </a:r>
          </a:p>
          <a:p>
            <a:r>
              <a:rPr lang="en-US" sz="1600" dirty="0"/>
              <a:t>7. Age Category</a:t>
            </a:r>
          </a:p>
          <a:p>
            <a:pPr algn="ctr"/>
            <a:endParaRPr lang="en-IN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B9025E-B006-15A0-6EF4-B0421303BFE8}"/>
              </a:ext>
            </a:extLst>
          </p:cNvPr>
          <p:cNvSpPr/>
          <p:nvPr/>
        </p:nvSpPr>
        <p:spPr>
          <a:xfrm>
            <a:off x="3453746" y="1956616"/>
            <a:ext cx="2442332" cy="3972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PRODUCT INFORMATION</a:t>
            </a:r>
          </a:p>
          <a:p>
            <a:pPr algn="ctr"/>
            <a:endParaRPr lang="en-IN" sz="2000" dirty="0"/>
          </a:p>
          <a:p>
            <a:r>
              <a:rPr lang="en-US" sz="1600" dirty="0"/>
              <a:t>1. Product Name</a:t>
            </a:r>
          </a:p>
          <a:p>
            <a:r>
              <a:rPr lang="en-US" sz="1600" dirty="0"/>
              <a:t>2. Product Category</a:t>
            </a:r>
          </a:p>
          <a:p>
            <a:r>
              <a:rPr lang="en-US" sz="1600" dirty="0"/>
              <a:t>3. Product Sub Category</a:t>
            </a:r>
          </a:p>
          <a:p>
            <a:r>
              <a:rPr lang="en-US" sz="1600" dirty="0"/>
              <a:t>4. Product Container</a:t>
            </a:r>
          </a:p>
          <a:p>
            <a:endParaRPr lang="en-US" sz="1400" dirty="0"/>
          </a:p>
          <a:p>
            <a:pPr algn="ctr"/>
            <a:endParaRPr lang="en-IN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2F15E5-457B-F9EE-1ADD-7A16E5B0F589}"/>
              </a:ext>
            </a:extLst>
          </p:cNvPr>
          <p:cNvSpPr/>
          <p:nvPr/>
        </p:nvSpPr>
        <p:spPr>
          <a:xfrm>
            <a:off x="6341153" y="1956616"/>
            <a:ext cx="2442332" cy="3972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ORDER INFORMATION</a:t>
            </a:r>
          </a:p>
          <a:p>
            <a:pPr algn="ctr"/>
            <a:endParaRPr lang="en-IN" sz="2000" dirty="0"/>
          </a:p>
          <a:p>
            <a:r>
              <a:rPr lang="en-US" sz="1600" dirty="0"/>
              <a:t>1. Order Id</a:t>
            </a:r>
          </a:p>
          <a:p>
            <a:r>
              <a:rPr lang="en-US" sz="1600" dirty="0"/>
              <a:t>2. Order Priority</a:t>
            </a:r>
          </a:p>
          <a:p>
            <a:r>
              <a:rPr lang="en-US" sz="1600" dirty="0"/>
              <a:t>3. Shipping Date</a:t>
            </a:r>
          </a:p>
          <a:p>
            <a:r>
              <a:rPr lang="en-US" sz="1600" dirty="0"/>
              <a:t>4. Shipping Mode</a:t>
            </a:r>
          </a:p>
          <a:p>
            <a:endParaRPr lang="en-US" sz="1400" dirty="0"/>
          </a:p>
          <a:p>
            <a:pPr algn="ctr"/>
            <a:endParaRPr lang="en-IN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863043-38BD-32FA-80D5-C6DF202D6013}"/>
              </a:ext>
            </a:extLst>
          </p:cNvPr>
          <p:cNvSpPr/>
          <p:nvPr/>
        </p:nvSpPr>
        <p:spPr>
          <a:xfrm>
            <a:off x="9228559" y="1956615"/>
            <a:ext cx="2442332" cy="3972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000" dirty="0"/>
              <a:t>METRICS</a:t>
            </a:r>
          </a:p>
          <a:p>
            <a:pPr algn="ctr"/>
            <a:endParaRPr lang="en-IN" sz="2000" dirty="0"/>
          </a:p>
          <a:p>
            <a:r>
              <a:rPr lang="en-US" sz="1600" dirty="0"/>
              <a:t>1. Unit Price</a:t>
            </a:r>
          </a:p>
          <a:p>
            <a:r>
              <a:rPr lang="en-US" sz="1600" dirty="0"/>
              <a:t>2. Product Base Margin</a:t>
            </a:r>
          </a:p>
          <a:p>
            <a:r>
              <a:rPr lang="en-US" sz="1600" dirty="0"/>
              <a:t>3. Discounts</a:t>
            </a:r>
          </a:p>
          <a:p>
            <a:r>
              <a:rPr lang="en-US" sz="1600" dirty="0"/>
              <a:t>4. Profit</a:t>
            </a:r>
          </a:p>
          <a:p>
            <a:r>
              <a:rPr lang="en-US" sz="1600" dirty="0"/>
              <a:t>5. Order Quantity</a:t>
            </a:r>
          </a:p>
          <a:p>
            <a:r>
              <a:rPr lang="en-US" sz="1600" dirty="0"/>
              <a:t>6. Shipping Cost</a:t>
            </a:r>
          </a:p>
          <a:p>
            <a:r>
              <a:rPr lang="en-US" sz="1600" dirty="0"/>
              <a:t>7. Sales</a:t>
            </a:r>
          </a:p>
          <a:p>
            <a:endParaRPr lang="en-US" sz="1400" dirty="0"/>
          </a:p>
          <a:p>
            <a:endParaRPr lang="en-US" sz="1400" dirty="0"/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2420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F001-7415-E95C-11A9-611102A0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 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97555D-7EB6-5D75-CFF4-00A32EC74414}"/>
              </a:ext>
            </a:extLst>
          </p:cNvPr>
          <p:cNvSpPr/>
          <p:nvPr/>
        </p:nvSpPr>
        <p:spPr>
          <a:xfrm>
            <a:off x="545688" y="1985112"/>
            <a:ext cx="3259393" cy="130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collected from Data.world which has 1m records in the from of csv 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A47262-C59C-F691-7486-F6DA36479818}"/>
              </a:ext>
            </a:extLst>
          </p:cNvPr>
          <p:cNvSpPr/>
          <p:nvPr/>
        </p:nvSpPr>
        <p:spPr>
          <a:xfrm>
            <a:off x="6096000" y="1985112"/>
            <a:ext cx="3431462" cy="130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Imported the csv file into python notebook for data cleaning such as removing null values, unwanted rows and duplicates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CA5DA7-4FFB-94B0-AE4C-68D1A67C8EFA}"/>
              </a:ext>
            </a:extLst>
          </p:cNvPr>
          <p:cNvSpPr/>
          <p:nvPr/>
        </p:nvSpPr>
        <p:spPr>
          <a:xfrm>
            <a:off x="6095999" y="4721440"/>
            <a:ext cx="3775587" cy="130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Imported consistent data into MySQL database for data transformation by removing unwanted columns and adding new columns </a:t>
            </a:r>
            <a:endParaRPr lang="en-IN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4B1A83C-D6C9-F1FB-1ADC-8836F24D176E}"/>
              </a:ext>
            </a:extLst>
          </p:cNvPr>
          <p:cNvSpPr/>
          <p:nvPr/>
        </p:nvSpPr>
        <p:spPr>
          <a:xfrm>
            <a:off x="3913239" y="2320413"/>
            <a:ext cx="2045111" cy="61943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E96ACC1-15E8-3EF9-C941-35699C424802}"/>
              </a:ext>
            </a:extLst>
          </p:cNvPr>
          <p:cNvSpPr/>
          <p:nvPr/>
        </p:nvSpPr>
        <p:spPr>
          <a:xfrm rot="5400000">
            <a:off x="7158864" y="3696427"/>
            <a:ext cx="1305733" cy="61943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F548FDA-0AF2-42D0-FA38-FE865D89EAD1}"/>
              </a:ext>
            </a:extLst>
          </p:cNvPr>
          <p:cNvSpPr/>
          <p:nvPr/>
        </p:nvSpPr>
        <p:spPr>
          <a:xfrm rot="10800000">
            <a:off x="3913238" y="5064590"/>
            <a:ext cx="2045111" cy="61943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B07ABE-E84A-E617-44BA-72C68FCA2F84}"/>
              </a:ext>
            </a:extLst>
          </p:cNvPr>
          <p:cNvSpPr/>
          <p:nvPr/>
        </p:nvSpPr>
        <p:spPr>
          <a:xfrm>
            <a:off x="585019" y="4659010"/>
            <a:ext cx="3259393" cy="130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Uploaded the csv file into Power bi using MySQL database driver for dashboard and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61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EA2A-9F35-7984-F470-396FA00E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C606F-82C7-55A4-F915-9EA2645F0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"/>
          <a:stretch/>
        </p:blipFill>
        <p:spPr>
          <a:xfrm>
            <a:off x="1917289" y="1914341"/>
            <a:ext cx="8082115" cy="1383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FC7E28-6661-C0CC-3973-1311E5E5D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7" y="3474851"/>
            <a:ext cx="11090786" cy="23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6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7DC6-66E7-69BA-A40B-5B498BB2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9D42-D5C3-C3B9-C7C1-37F6DEE6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BFE06D-AC93-6C0A-E24C-576456FC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98766"/>
            <a:ext cx="10780913" cy="348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6256-281E-E0C8-7C6F-B04A774F6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9045-0E11-DD1E-1226-A827AA17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44EA9-2A6C-7848-408A-4336899B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18" y="1966098"/>
            <a:ext cx="10616422" cy="262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1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9B52-1C0E-367C-FC20-FB5CFF8DE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ANALYSIS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1092B-2902-2A62-DDB6-370E6206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7" y="1978242"/>
            <a:ext cx="11503332" cy="1600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3953FF-1DD3-103F-1787-1E17C6E7DF1C}"/>
              </a:ext>
            </a:extLst>
          </p:cNvPr>
          <p:cNvSpPr txBox="1"/>
          <p:nvPr/>
        </p:nvSpPr>
        <p:spPr>
          <a:xfrm>
            <a:off x="541337" y="3993854"/>
            <a:ext cx="11277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Highest Sales were collected in October 2022 and lowest sales collected in January 2023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Revenue is dropping from January to February every year and is increasing with great margin from February to March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711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05B6-1F22-B920-03D1-D323FA00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36D8-7A60-F9AC-03E9-FFCD314C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ANALYSIS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28F53-0A90-05A3-A225-6FF8ACAF0791}"/>
              </a:ext>
            </a:extLst>
          </p:cNvPr>
          <p:cNvSpPr txBox="1"/>
          <p:nvPr/>
        </p:nvSpPr>
        <p:spPr>
          <a:xfrm>
            <a:off x="541336" y="3993854"/>
            <a:ext cx="11404857" cy="2288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For Highest sales contribution Paper contributed more for Office Suppliers, Telephones and Communication contributed more for Technology and Office Furnishings contributed more for Furniture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Similarly for low sales contribution Rulers and Trimmer contributed less for Office Supplies, Copies and Fax contributed less for Technology and Bookcases for Furniture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FB63C-D8EB-6EFA-6FA2-292481C78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04" y="1820948"/>
            <a:ext cx="11118952" cy="208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14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10D0-A1EC-021D-526E-022FC13D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ANALYSIS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39ED2-8B1E-A903-A7D1-5BCFC402F4D3}"/>
              </a:ext>
            </a:extLst>
          </p:cNvPr>
          <p:cNvSpPr txBox="1"/>
          <p:nvPr/>
        </p:nvSpPr>
        <p:spPr>
          <a:xfrm>
            <a:off x="379525" y="4066498"/>
            <a:ext cx="107761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52423"/>
                </a:solidFill>
                <a:effectLst/>
                <a:latin typeface="Calibri body"/>
              </a:rPr>
              <a:t>At $15,98,65,086.8261096, California had the highest Total Revenue and was 2,514.50% higher than South Dakota, which had the lowest Total Revenue at $61,14,558.873195887.﻿﻿ ﻿﻿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252423"/>
              </a:solidFill>
              <a:latin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52423"/>
                </a:solidFill>
                <a:effectLst/>
                <a:latin typeface="Calibri body"/>
              </a:rPr>
              <a:t>California accounted for 7.72% of Total Revenue.﻿﻿ ﻿﻿ ﻿﻿Across all 47 state, Total Revenue ranged from $61,14,558.873195887 to $15,98,65,086.8261096</a:t>
            </a:r>
            <a:r>
              <a:rPr lang="en-US" sz="2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.﻿﻿ ﻿﻿ ﻿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EB4209-0087-9C71-0897-10E64264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0" y="1848464"/>
            <a:ext cx="11396862" cy="219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37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6DA9-873A-3E07-0B24-E158DAA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6FAE9-E2A3-BF1B-2E51-D81D31BD2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02" y="1892077"/>
            <a:ext cx="3060656" cy="1766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1A7387-A907-7157-FAA0-06C728EF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813" y="1892077"/>
            <a:ext cx="3329399" cy="17667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5FA96E-55F0-EFAB-7CAF-D464CFA9D77B}"/>
              </a:ext>
            </a:extLst>
          </p:cNvPr>
          <p:cNvSpPr txBox="1"/>
          <p:nvPr/>
        </p:nvSpPr>
        <p:spPr>
          <a:xfrm>
            <a:off x="550606" y="3906913"/>
            <a:ext cx="110907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52423"/>
                </a:solidFill>
                <a:effectLst/>
                <a:latin typeface="Calibri body"/>
              </a:rPr>
              <a:t>Senior Citizen had the highest Total Revenue at $870M, followed by Mid Age at $710M and Youth at $480M.﻿﻿ ﻿﻿ ﻿﻿Senior Citizen accounted for 42.27% of Total Revenue.﻿﻿ ﻿﻿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252423"/>
              </a:solidFill>
              <a:latin typeface="Calibri body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52423"/>
                </a:solidFill>
                <a:effectLst/>
                <a:latin typeface="Calibri body"/>
              </a:rPr>
              <a:t>﻿</a:t>
            </a:r>
            <a:r>
              <a:rPr lang="en-US" sz="2400" dirty="0">
                <a:solidFill>
                  <a:srgbClr val="252423"/>
                </a:solidFill>
                <a:latin typeface="Calibri body"/>
              </a:rPr>
              <a:t>Small Business has the highest Total Revenue at $522.8M, followed by Home Office at $522.1M, Consumer at $518M and Corporate at $509M. Small Business accounted for 25.53% of Total Revenue</a:t>
            </a:r>
            <a:endParaRPr lang="en-IN" dirty="0">
              <a:latin typeface="Calibri body"/>
            </a:endParaRPr>
          </a:p>
        </p:txBody>
      </p:sp>
    </p:spTree>
    <p:extLst>
      <p:ext uri="{BB962C8B-B14F-4D97-AF65-F5344CB8AC3E}">
        <p14:creationId xmlns:p14="http://schemas.microsoft.com/office/powerpoint/2010/main" val="3483492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A859-82D9-1F2D-FF23-5D7B43BC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RECOMENDATION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27E43-D76D-577D-2696-E558F149353F}"/>
              </a:ext>
            </a:extLst>
          </p:cNvPr>
          <p:cNvSpPr txBox="1"/>
          <p:nvPr/>
        </p:nvSpPr>
        <p:spPr>
          <a:xfrm>
            <a:off x="1097279" y="2079521"/>
            <a:ext cx="100583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Starting a marketing campaign in the regions like California, Florida, Massachusetts and New Jersey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Focusing on low sales region such as South Dakota, Rhode Island, North Dakota and Montana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Giving discounts and vouchers  to Senior Citizens and Mid Age people who contributed to the overall sales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8175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191</TotalTime>
  <Words>493</Words>
  <Application>Microsoft Office PowerPoint</Application>
  <PresentationFormat>Widescreen</PresentationFormat>
  <Paragraphs>75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Calibri body</vt:lpstr>
      <vt:lpstr>Calibri Light</vt:lpstr>
      <vt:lpstr>Segoe UI</vt:lpstr>
      <vt:lpstr>Wingdings</vt:lpstr>
      <vt:lpstr>Retrospect</vt:lpstr>
      <vt:lpstr>WALMART RETAIL DASHBOARD AND ANALYSIS</vt:lpstr>
      <vt:lpstr>INTRODUCTION</vt:lpstr>
      <vt:lpstr>DATA OVERVIEW</vt:lpstr>
      <vt:lpstr>DATA PROCESSING </vt:lpstr>
      <vt:lpstr>KEY METRICS</vt:lpstr>
      <vt:lpstr>KEY METRICS</vt:lpstr>
      <vt:lpstr>KEY METRICS</vt:lpstr>
      <vt:lpstr>INSIGHTS AND ANALYSIS</vt:lpstr>
      <vt:lpstr>INSIGHTS AND ANALYSIS</vt:lpstr>
      <vt:lpstr>INSIGHTS AND ANALYSIS</vt:lpstr>
      <vt:lpstr>INSIGHTS AND ANALYSIS</vt:lpstr>
      <vt:lpstr>CONCLUSION AND RECOMENDATION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anantha raman</dc:creator>
  <cp:lastModifiedBy>anantha raman</cp:lastModifiedBy>
  <cp:revision>6</cp:revision>
  <dcterms:created xsi:type="dcterms:W3CDTF">2024-11-15T03:06:41Z</dcterms:created>
  <dcterms:modified xsi:type="dcterms:W3CDTF">2024-11-15T06:18:16Z</dcterms:modified>
</cp:coreProperties>
</file>